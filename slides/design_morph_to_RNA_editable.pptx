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Design: morphology  →  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latin typeface="Calibri"/>
              </a:rPr>
              <a:t>Imaging predicts time · frozen bulk atlas supplies programs · no cell-matched 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A. Imaging → slice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468880" cy="77724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Cellpose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371600"/>
            <a:ext cx="2468880" cy="77724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Single-cell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crops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2468880" cy="77724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CellProfiler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skeleton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371600"/>
            <a:ext cx="2468880" cy="777240"/>
          </a:xfrm>
          <a:prstGeom prst="roundRect">
            <a:avLst>
              <a:gd name="adj" fmla="val 15000"/>
            </a:avLst>
          </a:prstGeom>
          <a:solidFill>
            <a:srgbClr val="EEF2F7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Pool to slice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(median / p90 / clusters)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1760220.0"/>
            <a:ext cx="320040" cy="0.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23560" y="1760220.0"/>
            <a:ext cx="320040" cy="0.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12480" y="1760220.0"/>
            <a:ext cx="320040" cy="0.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2331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B. Two-stage model (inference = morph only)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97480"/>
            <a:ext cx="2377440" cy="960120"/>
          </a:xfrm>
          <a:prstGeom prst="roundRect">
            <a:avLst>
              <a:gd name="adj" fmla="val 15000"/>
            </a:avLst>
          </a:prstGeom>
          <a:solidFill>
            <a:srgbClr val="E8F0E8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Slice morphology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697480"/>
            <a:ext cx="3200400" cy="960120"/>
          </a:xfrm>
          <a:prstGeom prst="roundRect">
            <a:avLst>
              <a:gd name="adj" fmla="val 15000"/>
            </a:avLst>
          </a:prstGeom>
          <a:solidFill>
            <a:srgbClr val="F7EBE0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Stage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Morph → P(time)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L2 logistic · nested CV ~92%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697480"/>
            <a:ext cx="2148840" cy="960120"/>
          </a:xfrm>
          <a:prstGeom prst="roundRect">
            <a:avLst>
              <a:gd name="adj" fmla="val 15000"/>
            </a:avLst>
          </a:prstGeom>
          <a:solidFill>
            <a:srgbClr val="EFE6F5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Mix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P(time) · atlas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697480"/>
            <a:ext cx="2286000" cy="960120"/>
          </a:xfrm>
          <a:prstGeom prst="roundRect">
            <a:avLst>
              <a:gd name="adj" fmla="val 15000"/>
            </a:avLst>
          </a:prstGeom>
          <a:solidFill>
            <a:srgbClr val="E8F0E8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Predicted RNA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programs + genes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3177540.0"/>
            <a:ext cx="502920" cy="0.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46520" y="3177540.0"/>
            <a:ext cx="457200" cy="0.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3177540.0"/>
            <a:ext cx="457200" cy="0.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C. Frozen RNA atlas (built once from bulk RNA-seq)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51960"/>
            <a:ext cx="2926080" cy="1051560"/>
          </a:xfrm>
          <a:prstGeom prst="roundRect">
            <a:avLst>
              <a:gd name="adj" fmla="val 15000"/>
            </a:avLst>
          </a:prstGeom>
          <a:solidFill>
            <a:srgbClr val="F5F0E6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Bulk wells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DESeq2 → VST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251960"/>
            <a:ext cx="3657600" cy="1051560"/>
          </a:xfrm>
          <a:prstGeom prst="roundRect">
            <a:avLst>
              <a:gd name="adj" fmla="val 15000"/>
            </a:avLst>
          </a:prstGeom>
          <a:solidFill>
            <a:srgbClr val="F5F0E6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Gene-set programs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(+ panel genes)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z-scored by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4251960"/>
            <a:ext cx="3840480" cy="1051560"/>
          </a:xfrm>
          <a:prstGeom prst="roundRect">
            <a:avLst>
              <a:gd name="adj" fmla="val 15000"/>
            </a:avLst>
          </a:prstGeom>
          <a:solidFill>
            <a:srgbClr val="F5F0E6"/>
          </a:solidFill>
          <a:ln w="1587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Atlas lookup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5 times × K programs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Not an input on new FOVs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91840" y="4777740.0"/>
            <a:ext cx="502920" cy="0.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52360" y="4777740.0"/>
            <a:ext cx="502919" cy="0.0"/>
          </a:xfrm>
          <a:prstGeom prst="line">
            <a:avLst/>
          </a:prstGeom>
          <a:ln w="2222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38160" y="3703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A3D9A"/>
                </a:solidFill>
                <a:latin typeface="Calibri"/>
              </a:rPr>
              <a:t>↑ feeds Stage 2 mix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Constraints: imaging slices &amp; bulk wells share time labels only  ·  no cell-matched transcriptomes  ·  new FOVs → morph CSV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Calibri"/>
              </a:rPr>
              <a:t>Tip: all boxes/text are editable shapes — move, recolor, or rewrite freely.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